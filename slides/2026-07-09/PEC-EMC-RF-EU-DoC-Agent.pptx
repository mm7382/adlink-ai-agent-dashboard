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6858000" cx="12192000"/>
  <p:notesSz cx="6858000" cy="9144000"/>
  <p:embeddedFontLst>
    <p:embeddedFont>
      <p:font typeface="Poppins"/>
      <p:regular r:id="rId11"/>
      <p:bold r:id="rId12"/>
      <p:italic r:id="rId13"/>
      <p:boldItalic r:id="rId14"/>
    </p:embeddedFont>
    <p:embeddedFont>
      <p:font typeface="Lato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Poppins-regular.fntdata"/><Relationship Id="rId10" Type="http://schemas.openxmlformats.org/officeDocument/2006/relationships/slide" Target="slides/slide5.xml"/><Relationship Id="rId13" Type="http://schemas.openxmlformats.org/officeDocument/2006/relationships/font" Target="fonts/Poppins-italic.fntdata"/><Relationship Id="rId12" Type="http://schemas.openxmlformats.org/officeDocument/2006/relationships/font" Target="fonts/Poppins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Lato-regular.fntdata"/><Relationship Id="rId14" Type="http://schemas.openxmlformats.org/officeDocument/2006/relationships/font" Target="fonts/Poppins-boldItalic.fntdata"/><Relationship Id="rId17" Type="http://schemas.openxmlformats.org/officeDocument/2006/relationships/font" Target="fonts/Lato-italic.fntdata"/><Relationship Id="rId16" Type="http://schemas.openxmlformats.org/officeDocument/2006/relationships/font" Target="fonts/La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La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10.png"/><Relationship Id="rId6" Type="http://schemas.openxmlformats.org/officeDocument/2006/relationships/image" Target="../media/image1.png"/><Relationship Id="rId7" Type="http://schemas.openxmlformats.org/officeDocument/2006/relationships/image" Target="../media/image5.png"/><Relationship Id="rId8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875597" y="2136427"/>
            <a:ext cx="6440805" cy="1885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使用 AI Agent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加速 EU DoC 產出流程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3028950" y="4212877"/>
            <a:ext cx="61341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自動解析技術報告 ‧ 內網系統智慧勾選 ‧ 徹底釋放研發能量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2" name="Google Shape;9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771650"/>
            <a:ext cx="52387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571500" y="1771650"/>
            <a:ext cx="55006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6B6D4"/>
                </a:solidFill>
                <a:latin typeface="Poppins"/>
                <a:ea typeface="Poppins"/>
                <a:cs typeface="Poppins"/>
                <a:sym typeface="Poppins"/>
              </a:rPr>
              <a:t>高昂的研發時間成本</a:t>
            </a:r>
            <a:endParaRPr/>
          </a:p>
        </p:txBody>
      </p:sp>
      <p:pic>
        <p:nvPicPr>
          <p:cNvPr descr="image.png" id="94" name="Google Shape;9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771650"/>
            <a:ext cx="52387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1000125" y="2419350"/>
            <a:ext cx="48101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6B6D4"/>
                </a:solidFill>
                <a:latin typeface="Lato"/>
                <a:ea typeface="Lato"/>
                <a:cs typeface="Lato"/>
                <a:sym typeface="Lato"/>
              </a:rPr>
              <a:t>跨單位專家覆核：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每個專案皆須 EMC、RF、Safety、EC 四個單位的專家手動檢查報告內容。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1000125" y="3267075"/>
            <a:ext cx="48101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6B6D4"/>
                </a:solidFill>
                <a:latin typeface="Lato"/>
                <a:ea typeface="Lato"/>
                <a:cs typeface="Lato"/>
                <a:sym typeface="Lato"/>
              </a:rPr>
              <a:t>手動資料登錄：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專家需反覆於多個資料夾間切換，比對報告數據並在內網系統手動勾選。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1000125" y="4114800"/>
            <a:ext cx="48101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6B6D4"/>
                </a:solidFill>
                <a:latin typeface="Lato"/>
                <a:ea typeface="Lato"/>
                <a:cs typeface="Lato"/>
                <a:sym typeface="Lato"/>
              </a:rPr>
              <a:t>研發能量浪費：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即使流程已工具化，但行政性操作仍占用大量高價值 RD 研發時間。</a:t>
            </a:r>
            <a:endParaRPr/>
          </a:p>
        </p:txBody>
      </p:sp>
      <p:pic>
        <p:nvPicPr>
          <p:cNvPr descr="image.png" id="98" name="Google Shape;98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457450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305175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152900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762000" y="571500"/>
            <a:ext cx="11401425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現行流程：行政與專業的效率瓶頸</a:t>
            </a:r>
            <a:endParaRPr/>
          </a:p>
        </p:txBody>
      </p:sp>
      <p:sp>
        <p:nvSpPr>
          <p:cNvPr id="102" name="Google Shape;102;p14"/>
          <p:cNvSpPr/>
          <p:nvPr/>
        </p:nvSpPr>
        <p:spPr>
          <a:xfrm>
            <a:off x="571500" y="571500"/>
            <a:ext cx="76200" cy="5905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7" name="Google Shape;10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 txBox="1"/>
          <p:nvPr/>
        </p:nvSpPr>
        <p:spPr>
          <a:xfrm>
            <a:off x="762000" y="571500"/>
            <a:ext cx="5000625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AI Agent 智慧自動化方案</a:t>
            </a:r>
            <a:endParaRPr/>
          </a:p>
        </p:txBody>
      </p:sp>
      <p:sp>
        <p:nvSpPr>
          <p:cNvPr id="109" name="Google Shape;109;p15"/>
          <p:cNvSpPr/>
          <p:nvPr/>
        </p:nvSpPr>
        <p:spPr>
          <a:xfrm>
            <a:off x="571500" y="571500"/>
            <a:ext cx="76200" cy="5905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10" name="Google Shape;11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571500" y="2181225"/>
            <a:ext cx="52006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891B2"/>
                </a:solidFill>
                <a:latin typeface="Poppins"/>
                <a:ea typeface="Poppins"/>
                <a:cs typeface="Poppins"/>
                <a:sym typeface="Poppins"/>
              </a:rPr>
              <a:t>端到端（End-to-End）無感作業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571500" y="2828925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1. 需求感測：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AI Agent 監測到專案 DoC 產出需求進來後自動啟動機制。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571500" y="3581400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2. 內網巡檢：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自行巡檢內網報告資料夾，精準鎖定對應的 EMC/RF/Safety/EC 報告檔案。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571500" y="4333875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3. 智能解析：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透過 LLM 解析 PDF 內文，提取正確的 </a:t>
            </a:r>
            <a:r>
              <a:rPr b="1" i="0" lang="en-US" sz="1500" u="none" cap="none" strike="noStrike">
                <a:solidFill>
                  <a:srgbClr val="06B6D4"/>
                </a:solidFill>
                <a:latin typeface="Lato"/>
                <a:ea typeface="Lato"/>
                <a:cs typeface="Lato"/>
                <a:sym typeface="Lato"/>
              </a:rPr>
              <a:t>標準名稱 (Standard Name)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與 </a:t>
            </a:r>
            <a:r>
              <a:rPr b="1" i="0" lang="en-US" sz="1500" u="none" cap="none" strike="noStrike">
                <a:solidFill>
                  <a:srgbClr val="06B6D4"/>
                </a:solidFill>
                <a:latin typeface="Lato"/>
                <a:ea typeface="Lato"/>
                <a:cs typeface="Lato"/>
                <a:sym typeface="Lato"/>
              </a:rPr>
              <a:t>版本 (Version)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。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571500" y="5086350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4. 自動執行：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回到內網網頁系統，自動完成標準勾選並匯出 EU DoC 文件。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0" name="Google Shape;12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6"/>
          <p:cNvSpPr/>
          <p:nvPr/>
        </p:nvSpPr>
        <p:spPr>
          <a:xfrm>
            <a:off x="571500" y="3990975"/>
            <a:ext cx="11049000" cy="38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6"/>
          <p:cNvSpPr txBox="1"/>
          <p:nvPr/>
        </p:nvSpPr>
        <p:spPr>
          <a:xfrm>
            <a:off x="521780" y="4295775"/>
            <a:ext cx="2088229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6B6D4"/>
                </a:solidFill>
                <a:latin typeface="Poppins"/>
                <a:ea typeface="Poppins"/>
                <a:cs typeface="Poppins"/>
                <a:sym typeface="Poppins"/>
              </a:rPr>
              <a:t>7/10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571500" y="4743450"/>
            <a:ext cx="1988790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Kick-off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專案正式啟動與技術需求對齊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2786795" y="2474862"/>
            <a:ext cx="2088229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6B6D4"/>
                </a:solidFill>
                <a:latin typeface="Poppins"/>
                <a:ea typeface="Poppins"/>
                <a:cs typeface="Poppins"/>
                <a:sym typeface="Poppins"/>
              </a:rPr>
              <a:t>7月底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2836515" y="2941587"/>
            <a:ext cx="1988790" cy="639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架構與流程設計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完成系統架構評估與 Agent 流程設計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5051810" y="4295775"/>
            <a:ext cx="2088229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6B6D4"/>
                </a:solidFill>
                <a:latin typeface="Poppins"/>
                <a:ea typeface="Poppins"/>
                <a:cs typeface="Poppins"/>
                <a:sym typeface="Poppins"/>
              </a:rPr>
              <a:t>8月底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5101530" y="4762500"/>
            <a:ext cx="1988790" cy="639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串接與自動勾選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完成內網資料串接與 ANYDOOR 自動勾選機制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7316825" y="2474862"/>
            <a:ext cx="2088229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6B6D4"/>
                </a:solidFill>
                <a:latin typeface="Poppins"/>
                <a:ea typeface="Poppins"/>
                <a:cs typeface="Poppins"/>
                <a:sym typeface="Poppins"/>
              </a:rPr>
              <a:t>9月底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7366545" y="2941587"/>
            <a:ext cx="1988790" cy="639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驗證與運行維護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試運行、流程驗證並建立 AI 維護監控機制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9581841" y="4295775"/>
            <a:ext cx="2088229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6B6D4"/>
                </a:solidFill>
                <a:latin typeface="Poppins"/>
                <a:ea typeface="Poppins"/>
                <a:cs typeface="Poppins"/>
                <a:sym typeface="Poppins"/>
              </a:rPr>
              <a:t>10月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9631560" y="4762500"/>
            <a:ext cx="1988790" cy="639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全面導入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系統正式上線，完全釋放 RD 行政作業能量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762000" y="571500"/>
            <a:ext cx="11401425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專案時程：關鍵里程碑與規劃</a:t>
            </a:r>
            <a:endParaRPr/>
          </a:p>
        </p:txBody>
      </p:sp>
      <p:sp>
        <p:nvSpPr>
          <p:cNvPr id="133" name="Google Shape;133;p16"/>
          <p:cNvSpPr/>
          <p:nvPr/>
        </p:nvSpPr>
        <p:spPr>
          <a:xfrm>
            <a:off x="571500" y="571500"/>
            <a:ext cx="76200" cy="5905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6"/>
          <p:cNvSpPr/>
          <p:nvPr/>
        </p:nvSpPr>
        <p:spPr>
          <a:xfrm>
            <a:off x="1470645" y="3914775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6"/>
          <p:cNvSpPr/>
          <p:nvPr/>
        </p:nvSpPr>
        <p:spPr>
          <a:xfrm>
            <a:off x="3735660" y="3914775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6"/>
          <p:cNvSpPr/>
          <p:nvPr/>
        </p:nvSpPr>
        <p:spPr>
          <a:xfrm>
            <a:off x="6000675" y="3914775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/>
          <p:nvPr/>
        </p:nvSpPr>
        <p:spPr>
          <a:xfrm>
            <a:off x="8265690" y="3914775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6"/>
          <p:cNvSpPr/>
          <p:nvPr/>
        </p:nvSpPr>
        <p:spPr>
          <a:xfrm>
            <a:off x="10530706" y="3914775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7"/>
          <p:cNvSpPr/>
          <p:nvPr/>
        </p:nvSpPr>
        <p:spPr>
          <a:xfrm>
            <a:off x="571500" y="2633811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7"/>
          <p:cNvSpPr/>
          <p:nvPr/>
        </p:nvSpPr>
        <p:spPr>
          <a:xfrm>
            <a:off x="571500" y="3418582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7"/>
          <p:cNvSpPr/>
          <p:nvPr/>
        </p:nvSpPr>
        <p:spPr>
          <a:xfrm>
            <a:off x="571500" y="340905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7"/>
          <p:cNvSpPr/>
          <p:nvPr/>
        </p:nvSpPr>
        <p:spPr>
          <a:xfrm>
            <a:off x="571500" y="340905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7"/>
          <p:cNvSpPr/>
          <p:nvPr/>
        </p:nvSpPr>
        <p:spPr>
          <a:xfrm>
            <a:off x="571500" y="419382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7"/>
          <p:cNvSpPr/>
          <p:nvPr/>
        </p:nvSpPr>
        <p:spPr>
          <a:xfrm>
            <a:off x="571500" y="419382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49" name="Google Shape;14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78323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7"/>
          <p:cNvSpPr txBox="1"/>
          <p:nvPr/>
        </p:nvSpPr>
        <p:spPr>
          <a:xfrm>
            <a:off x="1666875" y="2776686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https://www0.f1online.de/preW/007125000/7125040.jpg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1666875" y="3022401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www.f1online.de</a:t>
            </a:r>
            <a:endParaRPr/>
          </a:p>
        </p:txBody>
      </p:sp>
      <p:pic>
        <p:nvPicPr>
          <p:cNvPr descr="image.png" id="152" name="Google Shape;15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56800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7"/>
          <p:cNvSpPr txBox="1"/>
          <p:nvPr/>
        </p:nvSpPr>
        <p:spPr>
          <a:xfrm>
            <a:off x="1666875" y="3561457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https://fpt.ai/wp-content/uploads/2025/01/rpa-vs-ai-agents-2.png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1666875" y="3807172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fpt.ai</a:t>
            </a:r>
            <a:endParaRPr/>
          </a:p>
        </p:txBody>
      </p:sp>
      <p:pic>
        <p:nvPicPr>
          <p:cNvPr descr="image.png" id="155" name="Google Shape;15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45189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7"/>
          <p:cNvSpPr txBox="1"/>
          <p:nvPr/>
        </p:nvSpPr>
        <p:spPr>
          <a:xfrm>
            <a:off x="1666875" y="4346227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https://static.vecteezy.com/system/resources/thumbnails/045/707/498/small_2x/abstract-cyber-space-visualization-with-bright-purple-energy-lines-and-glow-effect-on-a-dark-background-animated-wallpaper-for-science-digital-technology-and-artificial-intelligence-4k-60fps-video.jpg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1666875" y="4790033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www.vecteezy.com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Image Sources</a:t>
            </a:r>
            <a:endParaRPr/>
          </a:p>
        </p:txBody>
      </p:sp>
      <p:sp>
        <p:nvSpPr>
          <p:cNvPr id="159" name="Google Shape;159;p17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